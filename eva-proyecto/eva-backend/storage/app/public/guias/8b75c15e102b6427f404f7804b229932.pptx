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Lst>
  <p:sldSz cx="9144000" cy="6858000" type="screen4x3"/>
  <p:notesSz cx="6858000" cy="9144000"/>
  <p:defaultTextStyle>
    <a:defPPr>
      <a:defRPr lang="es-CO"/>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8A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1AB38C-5D42-4F4C-9218-103E6CCEAB49}" v="46" dt="2021-09-29T00:11:56.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50" d="100"/>
          <a:sy n="50" d="100"/>
        </p:scale>
        <p:origin x="1740" y="3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lvl1pPr>
              <a:defRPr/>
            </a:lvl1pPr>
          </a:lstStyle>
          <a:p>
            <a:pPr>
              <a:defRPr/>
            </a:pPr>
            <a:fld id="{C9DDF1A8-2635-4CBA-A161-C39DB08EBEDE}" type="datetimeFigureOut">
              <a:rPr lang="es-CO"/>
              <a:pPr>
                <a:defRPr/>
              </a:pPr>
              <a:t>28/09/2021</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1E91AE95-7FD3-4394-B7B7-031987936A1E}" type="slidenum">
              <a:rPr lang="es-CO"/>
              <a:pPr>
                <a:defRPr/>
              </a:pPr>
              <a:t>‹Nº›</a:t>
            </a:fld>
            <a:endParaRPr lang="es-CO"/>
          </a:p>
        </p:txBody>
      </p:sp>
    </p:spTree>
    <p:extLst>
      <p:ext uri="{BB962C8B-B14F-4D97-AF65-F5344CB8AC3E}">
        <p14:creationId xmlns:p14="http://schemas.microsoft.com/office/powerpoint/2010/main" val="3924872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lvl1pPr>
              <a:defRPr/>
            </a:lvl1pPr>
          </a:lstStyle>
          <a:p>
            <a:pPr>
              <a:defRPr/>
            </a:pPr>
            <a:fld id="{66BB883B-0AAE-4EE9-AFFB-A15B22CC7D40}" type="datetimeFigureOut">
              <a:rPr lang="es-CO"/>
              <a:pPr>
                <a:defRPr/>
              </a:pPr>
              <a:t>28/09/2021</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E1FE777A-A31D-48EC-B3BD-E3C1402DE896}" type="slidenum">
              <a:rPr lang="es-CO"/>
              <a:pPr>
                <a:defRPr/>
              </a:pPr>
              <a:t>‹Nº›</a:t>
            </a:fld>
            <a:endParaRPr lang="es-CO"/>
          </a:p>
        </p:txBody>
      </p:sp>
    </p:spTree>
    <p:extLst>
      <p:ext uri="{BB962C8B-B14F-4D97-AF65-F5344CB8AC3E}">
        <p14:creationId xmlns:p14="http://schemas.microsoft.com/office/powerpoint/2010/main" val="1362867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349E7AA1-8A62-4821-BE6A-5C49CDC24E84}" type="datetimeFigureOut">
              <a:rPr lang="es-CO"/>
              <a:pPr>
                <a:defRPr/>
              </a:pPr>
              <a:t>28/09/2021</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9B1119B3-4352-403F-803E-2C9FB0894952}" type="slidenum">
              <a:rPr lang="es-CO"/>
              <a:pPr>
                <a:defRPr/>
              </a:pPr>
              <a:t>‹Nº›</a:t>
            </a:fld>
            <a:endParaRPr lang="es-CO"/>
          </a:p>
        </p:txBody>
      </p:sp>
    </p:spTree>
    <p:extLst>
      <p:ext uri="{BB962C8B-B14F-4D97-AF65-F5344CB8AC3E}">
        <p14:creationId xmlns:p14="http://schemas.microsoft.com/office/powerpoint/2010/main" val="3735885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3 Marcador de fecha"/>
          <p:cNvSpPr>
            <a:spLocks noGrp="1"/>
          </p:cNvSpPr>
          <p:nvPr>
            <p:ph type="dt" sz="half" idx="10"/>
          </p:nvPr>
        </p:nvSpPr>
        <p:spPr/>
        <p:txBody>
          <a:bodyPr/>
          <a:lstStyle>
            <a:lvl1pPr>
              <a:defRPr/>
            </a:lvl1pPr>
          </a:lstStyle>
          <a:p>
            <a:pPr>
              <a:defRPr/>
            </a:pPr>
            <a:fld id="{1FFFF352-EC7D-4E95-B696-3C7ED3E0B5D9}" type="datetimeFigureOut">
              <a:rPr lang="es-CO"/>
              <a:pPr>
                <a:defRPr/>
              </a:pPr>
              <a:t>28/09/2021</a:t>
            </a:fld>
            <a:endParaRPr lang="es-CO"/>
          </a:p>
        </p:txBody>
      </p:sp>
      <p:sp>
        <p:nvSpPr>
          <p:cNvPr id="6" name="4 Marcador de pie de página"/>
          <p:cNvSpPr>
            <a:spLocks noGrp="1"/>
          </p:cNvSpPr>
          <p:nvPr>
            <p:ph type="ftr" sz="quarter" idx="11"/>
          </p:nvPr>
        </p:nvSpPr>
        <p:spPr/>
        <p:txBody>
          <a:bodyPr/>
          <a:lstStyle>
            <a:lvl1pPr>
              <a:defRPr/>
            </a:lvl1pPr>
          </a:lstStyle>
          <a:p>
            <a:pPr>
              <a:defRPr/>
            </a:pPr>
            <a:endParaRPr lang="es-CO"/>
          </a:p>
        </p:txBody>
      </p:sp>
      <p:sp>
        <p:nvSpPr>
          <p:cNvPr id="7" name="5 Marcador de número de diapositiva"/>
          <p:cNvSpPr>
            <a:spLocks noGrp="1"/>
          </p:cNvSpPr>
          <p:nvPr>
            <p:ph type="sldNum" sz="quarter" idx="12"/>
          </p:nvPr>
        </p:nvSpPr>
        <p:spPr/>
        <p:txBody>
          <a:bodyPr/>
          <a:lstStyle>
            <a:lvl1pPr>
              <a:defRPr/>
            </a:lvl1pPr>
          </a:lstStyle>
          <a:p>
            <a:pPr>
              <a:defRPr/>
            </a:pPr>
            <a:fld id="{15E751B3-EF01-4A20-8BD0-80FD79CAAF33}" type="slidenum">
              <a:rPr lang="es-CO"/>
              <a:pPr>
                <a:defRPr/>
              </a:pPr>
              <a:t>‹Nº›</a:t>
            </a:fld>
            <a:endParaRPr lang="es-CO"/>
          </a:p>
        </p:txBody>
      </p:sp>
    </p:spTree>
    <p:extLst>
      <p:ext uri="{BB962C8B-B14F-4D97-AF65-F5344CB8AC3E}">
        <p14:creationId xmlns:p14="http://schemas.microsoft.com/office/powerpoint/2010/main" val="201833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3 Marcador de fecha"/>
          <p:cNvSpPr>
            <a:spLocks noGrp="1"/>
          </p:cNvSpPr>
          <p:nvPr>
            <p:ph type="dt" sz="half" idx="10"/>
          </p:nvPr>
        </p:nvSpPr>
        <p:spPr/>
        <p:txBody>
          <a:bodyPr/>
          <a:lstStyle>
            <a:lvl1pPr>
              <a:defRPr/>
            </a:lvl1pPr>
          </a:lstStyle>
          <a:p>
            <a:pPr>
              <a:defRPr/>
            </a:pPr>
            <a:fld id="{ACECD8B2-0FE7-4981-BB80-D1B93C535CDB}" type="datetimeFigureOut">
              <a:rPr lang="es-CO"/>
              <a:pPr>
                <a:defRPr/>
              </a:pPr>
              <a:t>28/09/2021</a:t>
            </a:fld>
            <a:endParaRPr lang="es-CO"/>
          </a:p>
        </p:txBody>
      </p:sp>
      <p:sp>
        <p:nvSpPr>
          <p:cNvPr id="8" name="4 Marcador de pie de página"/>
          <p:cNvSpPr>
            <a:spLocks noGrp="1"/>
          </p:cNvSpPr>
          <p:nvPr>
            <p:ph type="ftr" sz="quarter" idx="11"/>
          </p:nvPr>
        </p:nvSpPr>
        <p:spPr/>
        <p:txBody>
          <a:bodyPr/>
          <a:lstStyle>
            <a:lvl1pPr>
              <a:defRPr/>
            </a:lvl1pPr>
          </a:lstStyle>
          <a:p>
            <a:pPr>
              <a:defRPr/>
            </a:pPr>
            <a:endParaRPr lang="es-CO"/>
          </a:p>
        </p:txBody>
      </p:sp>
      <p:sp>
        <p:nvSpPr>
          <p:cNvPr id="9" name="5 Marcador de número de diapositiva"/>
          <p:cNvSpPr>
            <a:spLocks noGrp="1"/>
          </p:cNvSpPr>
          <p:nvPr>
            <p:ph type="sldNum" sz="quarter" idx="12"/>
          </p:nvPr>
        </p:nvSpPr>
        <p:spPr/>
        <p:txBody>
          <a:bodyPr/>
          <a:lstStyle>
            <a:lvl1pPr>
              <a:defRPr/>
            </a:lvl1pPr>
          </a:lstStyle>
          <a:p>
            <a:pPr>
              <a:defRPr/>
            </a:pPr>
            <a:fld id="{5BC1793E-F764-44CB-9E26-3689724057B9}" type="slidenum">
              <a:rPr lang="es-CO"/>
              <a:pPr>
                <a:defRPr/>
              </a:pPr>
              <a:t>‹Nº›</a:t>
            </a:fld>
            <a:endParaRPr lang="es-CO"/>
          </a:p>
        </p:txBody>
      </p:sp>
    </p:spTree>
    <p:extLst>
      <p:ext uri="{BB962C8B-B14F-4D97-AF65-F5344CB8AC3E}">
        <p14:creationId xmlns:p14="http://schemas.microsoft.com/office/powerpoint/2010/main" val="3166472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3 Marcador de fecha"/>
          <p:cNvSpPr>
            <a:spLocks noGrp="1"/>
          </p:cNvSpPr>
          <p:nvPr>
            <p:ph type="dt" sz="half" idx="10"/>
          </p:nvPr>
        </p:nvSpPr>
        <p:spPr/>
        <p:txBody>
          <a:bodyPr/>
          <a:lstStyle>
            <a:lvl1pPr>
              <a:defRPr/>
            </a:lvl1pPr>
          </a:lstStyle>
          <a:p>
            <a:pPr>
              <a:defRPr/>
            </a:pPr>
            <a:fld id="{D541D30A-875B-470F-A4C9-AB48D7B8B747}" type="datetimeFigureOut">
              <a:rPr lang="es-CO"/>
              <a:pPr>
                <a:defRPr/>
              </a:pPr>
              <a:t>28/09/2021</a:t>
            </a:fld>
            <a:endParaRPr lang="es-CO"/>
          </a:p>
        </p:txBody>
      </p:sp>
      <p:sp>
        <p:nvSpPr>
          <p:cNvPr id="4" name="4 Marcador de pie de página"/>
          <p:cNvSpPr>
            <a:spLocks noGrp="1"/>
          </p:cNvSpPr>
          <p:nvPr>
            <p:ph type="ftr" sz="quarter" idx="11"/>
          </p:nvPr>
        </p:nvSpPr>
        <p:spPr/>
        <p:txBody>
          <a:bodyPr/>
          <a:lstStyle>
            <a:lvl1pPr>
              <a:defRPr/>
            </a:lvl1pPr>
          </a:lstStyle>
          <a:p>
            <a:pPr>
              <a:defRPr/>
            </a:pPr>
            <a:endParaRPr lang="es-CO"/>
          </a:p>
        </p:txBody>
      </p:sp>
      <p:sp>
        <p:nvSpPr>
          <p:cNvPr id="5" name="5 Marcador de número de diapositiva"/>
          <p:cNvSpPr>
            <a:spLocks noGrp="1"/>
          </p:cNvSpPr>
          <p:nvPr>
            <p:ph type="sldNum" sz="quarter" idx="12"/>
          </p:nvPr>
        </p:nvSpPr>
        <p:spPr/>
        <p:txBody>
          <a:bodyPr/>
          <a:lstStyle>
            <a:lvl1pPr>
              <a:defRPr/>
            </a:lvl1pPr>
          </a:lstStyle>
          <a:p>
            <a:pPr>
              <a:defRPr/>
            </a:pPr>
            <a:fld id="{0E722302-3BD3-4893-A593-7631B04E140A}" type="slidenum">
              <a:rPr lang="es-CO"/>
              <a:pPr>
                <a:defRPr/>
              </a:pPr>
              <a:t>‹Nº›</a:t>
            </a:fld>
            <a:endParaRPr lang="es-CO"/>
          </a:p>
        </p:txBody>
      </p:sp>
    </p:spTree>
    <p:extLst>
      <p:ext uri="{BB962C8B-B14F-4D97-AF65-F5344CB8AC3E}">
        <p14:creationId xmlns:p14="http://schemas.microsoft.com/office/powerpoint/2010/main" val="3974625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5091E6E7-568F-400E-BF24-CED16D3CE0AF}" type="datetimeFigureOut">
              <a:rPr lang="es-CO"/>
              <a:pPr>
                <a:defRPr/>
              </a:pPr>
              <a:t>28/09/2021</a:t>
            </a:fld>
            <a:endParaRPr lang="es-CO"/>
          </a:p>
        </p:txBody>
      </p:sp>
      <p:sp>
        <p:nvSpPr>
          <p:cNvPr id="3" name="4 Marcador de pie de página"/>
          <p:cNvSpPr>
            <a:spLocks noGrp="1"/>
          </p:cNvSpPr>
          <p:nvPr>
            <p:ph type="ftr" sz="quarter" idx="11"/>
          </p:nvPr>
        </p:nvSpPr>
        <p:spPr/>
        <p:txBody>
          <a:bodyPr/>
          <a:lstStyle>
            <a:lvl1pPr>
              <a:defRPr/>
            </a:lvl1pPr>
          </a:lstStyle>
          <a:p>
            <a:pPr>
              <a:defRPr/>
            </a:pPr>
            <a:endParaRPr lang="es-CO"/>
          </a:p>
        </p:txBody>
      </p:sp>
      <p:sp>
        <p:nvSpPr>
          <p:cNvPr id="4" name="5 Marcador de número de diapositiva"/>
          <p:cNvSpPr>
            <a:spLocks noGrp="1"/>
          </p:cNvSpPr>
          <p:nvPr>
            <p:ph type="sldNum" sz="quarter" idx="12"/>
          </p:nvPr>
        </p:nvSpPr>
        <p:spPr/>
        <p:txBody>
          <a:bodyPr/>
          <a:lstStyle>
            <a:lvl1pPr>
              <a:defRPr/>
            </a:lvl1pPr>
          </a:lstStyle>
          <a:p>
            <a:pPr>
              <a:defRPr/>
            </a:pPr>
            <a:fld id="{C1F89A54-8C9B-4D53-B836-4177F1FAC333}" type="slidenum">
              <a:rPr lang="es-CO"/>
              <a:pPr>
                <a:defRPr/>
              </a:pPr>
              <a:t>‹Nº›</a:t>
            </a:fld>
            <a:endParaRPr lang="es-CO"/>
          </a:p>
        </p:txBody>
      </p:sp>
    </p:spTree>
    <p:extLst>
      <p:ext uri="{BB962C8B-B14F-4D97-AF65-F5344CB8AC3E}">
        <p14:creationId xmlns:p14="http://schemas.microsoft.com/office/powerpoint/2010/main" val="2790458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F7DAA788-AECE-4E6C-AAD9-4A881AB41CDC}" type="datetimeFigureOut">
              <a:rPr lang="es-CO"/>
              <a:pPr>
                <a:defRPr/>
              </a:pPr>
              <a:t>28/09/2021</a:t>
            </a:fld>
            <a:endParaRPr lang="es-CO"/>
          </a:p>
        </p:txBody>
      </p:sp>
      <p:sp>
        <p:nvSpPr>
          <p:cNvPr id="6" name="4 Marcador de pie de página"/>
          <p:cNvSpPr>
            <a:spLocks noGrp="1"/>
          </p:cNvSpPr>
          <p:nvPr>
            <p:ph type="ftr" sz="quarter" idx="11"/>
          </p:nvPr>
        </p:nvSpPr>
        <p:spPr/>
        <p:txBody>
          <a:bodyPr/>
          <a:lstStyle>
            <a:lvl1pPr>
              <a:defRPr/>
            </a:lvl1pPr>
          </a:lstStyle>
          <a:p>
            <a:pPr>
              <a:defRPr/>
            </a:pPr>
            <a:endParaRPr lang="es-CO"/>
          </a:p>
        </p:txBody>
      </p:sp>
      <p:sp>
        <p:nvSpPr>
          <p:cNvPr id="7" name="5 Marcador de número de diapositiva"/>
          <p:cNvSpPr>
            <a:spLocks noGrp="1"/>
          </p:cNvSpPr>
          <p:nvPr>
            <p:ph type="sldNum" sz="quarter" idx="12"/>
          </p:nvPr>
        </p:nvSpPr>
        <p:spPr/>
        <p:txBody>
          <a:bodyPr/>
          <a:lstStyle>
            <a:lvl1pPr>
              <a:defRPr/>
            </a:lvl1pPr>
          </a:lstStyle>
          <a:p>
            <a:pPr>
              <a:defRPr/>
            </a:pPr>
            <a:fld id="{9A8819F0-EBEE-4652-9F2E-778D77D0CB76}" type="slidenum">
              <a:rPr lang="es-CO"/>
              <a:pPr>
                <a:defRPr/>
              </a:pPr>
              <a:t>‹Nº›</a:t>
            </a:fld>
            <a:endParaRPr lang="es-CO"/>
          </a:p>
        </p:txBody>
      </p:sp>
    </p:spTree>
    <p:extLst>
      <p:ext uri="{BB962C8B-B14F-4D97-AF65-F5344CB8AC3E}">
        <p14:creationId xmlns:p14="http://schemas.microsoft.com/office/powerpoint/2010/main" val="4054844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CO"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1648C185-B093-4E6B-95B1-66CBEDC1E303}" type="datetimeFigureOut">
              <a:rPr lang="es-CO"/>
              <a:pPr>
                <a:defRPr/>
              </a:pPr>
              <a:t>28/09/2021</a:t>
            </a:fld>
            <a:endParaRPr lang="es-CO"/>
          </a:p>
        </p:txBody>
      </p:sp>
      <p:sp>
        <p:nvSpPr>
          <p:cNvPr id="6" name="4 Marcador de pie de página"/>
          <p:cNvSpPr>
            <a:spLocks noGrp="1"/>
          </p:cNvSpPr>
          <p:nvPr>
            <p:ph type="ftr" sz="quarter" idx="11"/>
          </p:nvPr>
        </p:nvSpPr>
        <p:spPr/>
        <p:txBody>
          <a:bodyPr/>
          <a:lstStyle>
            <a:lvl1pPr>
              <a:defRPr/>
            </a:lvl1pPr>
          </a:lstStyle>
          <a:p>
            <a:pPr>
              <a:defRPr/>
            </a:pPr>
            <a:endParaRPr lang="es-CO"/>
          </a:p>
        </p:txBody>
      </p:sp>
      <p:sp>
        <p:nvSpPr>
          <p:cNvPr id="7" name="5 Marcador de número de diapositiva"/>
          <p:cNvSpPr>
            <a:spLocks noGrp="1"/>
          </p:cNvSpPr>
          <p:nvPr>
            <p:ph type="sldNum" sz="quarter" idx="12"/>
          </p:nvPr>
        </p:nvSpPr>
        <p:spPr/>
        <p:txBody>
          <a:bodyPr/>
          <a:lstStyle>
            <a:lvl1pPr>
              <a:defRPr/>
            </a:lvl1pPr>
          </a:lstStyle>
          <a:p>
            <a:pPr>
              <a:defRPr/>
            </a:pPr>
            <a:fld id="{2F9BE3F6-D2B7-4A65-8087-CCC77FBAB17A}" type="slidenum">
              <a:rPr lang="es-CO"/>
              <a:pPr>
                <a:defRPr/>
              </a:pPr>
              <a:t>‹Nº›</a:t>
            </a:fld>
            <a:endParaRPr lang="es-CO"/>
          </a:p>
        </p:txBody>
      </p:sp>
    </p:spTree>
    <p:extLst>
      <p:ext uri="{BB962C8B-B14F-4D97-AF65-F5344CB8AC3E}">
        <p14:creationId xmlns:p14="http://schemas.microsoft.com/office/powerpoint/2010/main" val="310821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lvl1pPr>
              <a:defRPr/>
            </a:lvl1pPr>
          </a:lstStyle>
          <a:p>
            <a:pPr>
              <a:defRPr/>
            </a:pPr>
            <a:fld id="{6B354FFC-0275-4319-A22D-9B149592ED73}" type="datetimeFigureOut">
              <a:rPr lang="es-CO"/>
              <a:pPr>
                <a:defRPr/>
              </a:pPr>
              <a:t>28/09/2021</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BC532507-76F3-4A8A-BFA4-3C65DE46B877}" type="slidenum">
              <a:rPr lang="es-CO"/>
              <a:pPr>
                <a:defRPr/>
              </a:pPr>
              <a:t>‹Nº›</a:t>
            </a:fld>
            <a:endParaRPr lang="es-CO"/>
          </a:p>
        </p:txBody>
      </p:sp>
    </p:spTree>
    <p:extLst>
      <p:ext uri="{BB962C8B-B14F-4D97-AF65-F5344CB8AC3E}">
        <p14:creationId xmlns:p14="http://schemas.microsoft.com/office/powerpoint/2010/main" val="1504602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lvl1pPr>
              <a:defRPr/>
            </a:lvl1pPr>
          </a:lstStyle>
          <a:p>
            <a:pPr>
              <a:defRPr/>
            </a:pPr>
            <a:fld id="{D64D5429-BB67-4609-85C6-D5E4971F32E0}" type="datetimeFigureOut">
              <a:rPr lang="es-CO"/>
              <a:pPr>
                <a:defRPr/>
              </a:pPr>
              <a:t>28/09/2021</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D25DCADB-EBCA-4306-9A2A-FE4B850ABCF3}" type="slidenum">
              <a:rPr lang="es-CO"/>
              <a:pPr>
                <a:defRPr/>
              </a:pPr>
              <a:t>‹Nº›</a:t>
            </a:fld>
            <a:endParaRPr lang="es-CO"/>
          </a:p>
        </p:txBody>
      </p:sp>
    </p:spTree>
    <p:extLst>
      <p:ext uri="{BB962C8B-B14F-4D97-AF65-F5344CB8AC3E}">
        <p14:creationId xmlns:p14="http://schemas.microsoft.com/office/powerpoint/2010/main" val="1560327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t>Haga clic para modificar el estilo de título del patrón</a:t>
            </a:r>
            <a:endParaRPr lang="es-CO"/>
          </a:p>
        </p:txBody>
      </p:sp>
      <p:sp>
        <p:nvSpPr>
          <p:cNvPr id="1027" name="2 Marcador de texto"/>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5060E2A1-2C38-4298-849D-C6BFB61E3BD5}" type="datetimeFigureOut">
              <a:rPr lang="es-CO"/>
              <a:pPr>
                <a:defRPr/>
              </a:pPr>
              <a:t>28/09/2021</a:t>
            </a:fld>
            <a:endParaRPr lang="es-CO"/>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endParaRPr lang="es-CO"/>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pPr>
              <a:defRPr/>
            </a:pPr>
            <a:fld id="{80BBFB59-20E4-4913-8D2A-5A47AAA3C5F4}" type="slidenum">
              <a:rPr lang="es-CO"/>
              <a:pPr>
                <a:defRPr/>
              </a:pPr>
              <a:t>‹Nº›</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3.w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3 CuadroTexto"/>
          <p:cNvSpPr txBox="1">
            <a:spLocks noChangeArrowheads="1"/>
          </p:cNvSpPr>
          <p:nvPr/>
        </p:nvSpPr>
        <p:spPr bwMode="auto">
          <a:xfrm>
            <a:off x="-148626" y="620345"/>
            <a:ext cx="39528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599" tIns="50799" rIns="101599" bIns="50799">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s-CO" sz="1100" b="1" dirty="0">
                <a:solidFill>
                  <a:srgbClr val="188A33"/>
                </a:solidFill>
                <a:latin typeface="Arial" charset="0"/>
              </a:rPr>
              <a:t>GUÍA RÁPIDA</a:t>
            </a:r>
            <a:endParaRPr lang="es-CO" sz="1100" dirty="0">
              <a:solidFill>
                <a:srgbClr val="188A33"/>
              </a:solidFill>
              <a:latin typeface="Arial" charset="0"/>
            </a:endParaRPr>
          </a:p>
        </p:txBody>
      </p:sp>
      <p:sp>
        <p:nvSpPr>
          <p:cNvPr id="12" name="11 CuadroTexto"/>
          <p:cNvSpPr txBox="1"/>
          <p:nvPr/>
        </p:nvSpPr>
        <p:spPr>
          <a:xfrm>
            <a:off x="66775" y="1552477"/>
            <a:ext cx="4828627" cy="1938992"/>
          </a:xfrm>
          <a:prstGeom prst="rect">
            <a:avLst/>
          </a:prstGeom>
          <a:noFill/>
        </p:spPr>
        <p:txBody>
          <a:bodyPr wrap="square" rtlCol="0">
            <a:spAutoFit/>
          </a:bodyPr>
          <a:lstStyle/>
          <a:p>
            <a:pPr marL="285750" indent="-285750">
              <a:buClr>
                <a:srgbClr val="00B0F0"/>
              </a:buClr>
              <a:buFont typeface="Arial" pitchFamily="34" charset="0"/>
              <a:buChar char="•"/>
            </a:pPr>
            <a:r>
              <a:rPr lang="es-CO" sz="1200" b="1" dirty="0">
                <a:latin typeface="Arial" pitchFamily="34" charset="0"/>
                <a:cs typeface="Arial" pitchFamily="34" charset="0"/>
              </a:rPr>
              <a:t>Nombre: Exactamix EM2400</a:t>
            </a:r>
          </a:p>
          <a:p>
            <a:pPr>
              <a:buClr>
                <a:srgbClr val="00B0F0"/>
              </a:buClr>
            </a:pPr>
            <a:endParaRPr lang="es-CO" sz="1200" b="1" dirty="0">
              <a:latin typeface="Arial" pitchFamily="34" charset="0"/>
              <a:cs typeface="Arial" pitchFamily="34" charset="0"/>
            </a:endParaRPr>
          </a:p>
          <a:p>
            <a:pPr marL="285750" indent="-285750">
              <a:buClr>
                <a:srgbClr val="00B0F0"/>
              </a:buClr>
              <a:buFont typeface="Arial" pitchFamily="34" charset="0"/>
              <a:buChar char="•"/>
            </a:pPr>
            <a:r>
              <a:rPr lang="es-CO" sz="1200" b="1" dirty="0">
                <a:latin typeface="Arial" pitchFamily="34" charset="0"/>
                <a:cs typeface="Arial" pitchFamily="34" charset="0"/>
              </a:rPr>
              <a:t>Marca: BAXTER</a:t>
            </a:r>
          </a:p>
          <a:p>
            <a:pPr>
              <a:buClr>
                <a:srgbClr val="00B0F0"/>
              </a:buClr>
            </a:pPr>
            <a:endParaRPr lang="es-CO" sz="1200" b="1" dirty="0">
              <a:latin typeface="Arial" pitchFamily="34" charset="0"/>
              <a:cs typeface="Arial" pitchFamily="34" charset="0"/>
            </a:endParaRPr>
          </a:p>
          <a:p>
            <a:pPr marL="285750" indent="-285750">
              <a:buClr>
                <a:srgbClr val="00B0F0"/>
              </a:buClr>
              <a:buFont typeface="Arial" pitchFamily="34" charset="0"/>
              <a:buChar char="•"/>
            </a:pPr>
            <a:r>
              <a:rPr lang="es-CO" sz="1200" b="1" dirty="0">
                <a:latin typeface="Arial" pitchFamily="34" charset="0"/>
                <a:cs typeface="Arial" pitchFamily="34" charset="0"/>
              </a:rPr>
              <a:t>Modelo: EM2400</a:t>
            </a:r>
            <a:endParaRPr lang="es-CO" sz="1200" dirty="0">
              <a:latin typeface="Arial" pitchFamily="34" charset="0"/>
              <a:cs typeface="Arial" pitchFamily="34" charset="0"/>
            </a:endParaRPr>
          </a:p>
          <a:p>
            <a:pPr>
              <a:buClr>
                <a:srgbClr val="00B0F0"/>
              </a:buClr>
            </a:pPr>
            <a:endParaRPr lang="es-CO" sz="1200" b="1" dirty="0">
              <a:latin typeface="Arial" pitchFamily="34" charset="0"/>
              <a:cs typeface="Arial" pitchFamily="34" charset="0"/>
            </a:endParaRPr>
          </a:p>
          <a:p>
            <a:pPr marL="285750" indent="-285750">
              <a:buClr>
                <a:srgbClr val="00B0F0"/>
              </a:buClr>
              <a:buFont typeface="Arial" pitchFamily="34" charset="0"/>
              <a:buChar char="•"/>
            </a:pPr>
            <a:r>
              <a:rPr lang="es-CO" sz="1200" b="1" dirty="0">
                <a:latin typeface="Arial" pitchFamily="34" charset="0"/>
                <a:cs typeface="Arial" pitchFamily="34" charset="0"/>
              </a:rPr>
              <a:t>Clasificación por riesgo:  IIB</a:t>
            </a:r>
          </a:p>
          <a:p>
            <a:pPr marL="285750" indent="-285750">
              <a:buClr>
                <a:srgbClr val="00B0F0"/>
              </a:buClr>
              <a:buFont typeface="Arial" pitchFamily="34" charset="0"/>
              <a:buChar char="•"/>
            </a:pPr>
            <a:endParaRPr lang="es-CO" sz="1200" dirty="0">
              <a:latin typeface="Arial" pitchFamily="34" charset="0"/>
              <a:cs typeface="Arial" pitchFamily="34" charset="0"/>
            </a:endParaRPr>
          </a:p>
          <a:p>
            <a:pPr>
              <a:buClr>
                <a:srgbClr val="00B0F0"/>
              </a:buClr>
            </a:pPr>
            <a:endParaRPr lang="es-CO" sz="1200" b="1" dirty="0">
              <a:latin typeface="Arial" pitchFamily="34" charset="0"/>
              <a:cs typeface="Arial" pitchFamily="34" charset="0"/>
            </a:endParaRPr>
          </a:p>
          <a:p>
            <a:pPr marL="285750" indent="-285750">
              <a:buClr>
                <a:srgbClr val="00B0F0"/>
              </a:buClr>
              <a:buFont typeface="Arial" pitchFamily="34" charset="0"/>
              <a:buChar char="•"/>
            </a:pPr>
            <a:r>
              <a:rPr lang="es-CO" sz="1200" b="1" dirty="0">
                <a:latin typeface="Arial" pitchFamily="34" charset="0"/>
                <a:cs typeface="Arial" pitchFamily="34" charset="0"/>
              </a:rPr>
              <a:t>Clasificación por uso: </a:t>
            </a:r>
            <a:r>
              <a:rPr lang="es-MX" sz="1200" b="1" dirty="0">
                <a:latin typeface="Arial" pitchFamily="34" charset="0"/>
                <a:cs typeface="Arial" pitchFamily="34" charset="0"/>
              </a:rPr>
              <a:t>Clase I (con conexión a tierra)</a:t>
            </a:r>
            <a:r>
              <a:rPr lang="es-CO" sz="1200" b="1" dirty="0">
                <a:latin typeface="Arial" pitchFamily="34" charset="0"/>
                <a:cs typeface="Arial" pitchFamily="34" charset="0"/>
              </a:rPr>
              <a:t> </a:t>
            </a:r>
          </a:p>
        </p:txBody>
      </p:sp>
      <p:sp>
        <p:nvSpPr>
          <p:cNvPr id="13" name="12 CuadroTexto"/>
          <p:cNvSpPr txBox="1"/>
          <p:nvPr/>
        </p:nvSpPr>
        <p:spPr>
          <a:xfrm>
            <a:off x="270139" y="3081403"/>
            <a:ext cx="4374567" cy="3077766"/>
          </a:xfrm>
          <a:prstGeom prst="rect">
            <a:avLst/>
          </a:prstGeom>
          <a:noFill/>
        </p:spPr>
        <p:txBody>
          <a:bodyPr wrap="square" rtlCol="0">
            <a:spAutoFit/>
          </a:bodyPr>
          <a:lstStyle/>
          <a:p>
            <a:pPr>
              <a:buClr>
                <a:srgbClr val="00B0F0"/>
              </a:buClr>
            </a:pPr>
            <a:endParaRPr lang="es-CO" b="1" dirty="0">
              <a:solidFill>
                <a:srgbClr val="00B0F0"/>
              </a:solidFill>
              <a:latin typeface="Arial" pitchFamily="34" charset="0"/>
              <a:cs typeface="Arial" pitchFamily="34" charset="0"/>
            </a:endParaRPr>
          </a:p>
          <a:p>
            <a:pPr>
              <a:buClr>
                <a:srgbClr val="00B0F0"/>
              </a:buClr>
            </a:pPr>
            <a:endParaRPr lang="es-CO" b="1" dirty="0">
              <a:solidFill>
                <a:srgbClr val="00B0F0"/>
              </a:solidFill>
              <a:latin typeface="Arial" pitchFamily="34" charset="0"/>
              <a:cs typeface="Arial" pitchFamily="34" charset="0"/>
            </a:endParaRPr>
          </a:p>
          <a:p>
            <a:pPr>
              <a:buClr>
                <a:srgbClr val="00B0F0"/>
              </a:buClr>
            </a:pPr>
            <a:r>
              <a:rPr lang="es-CO" b="1" dirty="0">
                <a:latin typeface="Arial" pitchFamily="34" charset="0"/>
                <a:cs typeface="Arial" pitchFamily="34" charset="0"/>
              </a:rPr>
              <a:t>Uso y manejo.</a:t>
            </a:r>
          </a:p>
          <a:p>
            <a:pPr>
              <a:buClr>
                <a:srgbClr val="00B0F0"/>
              </a:buClr>
            </a:pPr>
            <a:endParaRPr lang="es-CO" sz="1400" b="1" dirty="0">
              <a:solidFill>
                <a:srgbClr val="00B0F0"/>
              </a:solidFill>
            </a:endParaRPr>
          </a:p>
          <a:p>
            <a:pPr algn="just">
              <a:buClr>
                <a:srgbClr val="00B0F0"/>
              </a:buClr>
            </a:pPr>
            <a:r>
              <a:rPr lang="es-MX" sz="1050" dirty="0">
                <a:solidFill>
                  <a:schemeClr val="bg1">
                    <a:lumMod val="50000"/>
                  </a:schemeClr>
                </a:solidFill>
                <a:latin typeface="Arial" pitchFamily="34" charset="0"/>
                <a:cs typeface="Arial" pitchFamily="34" charset="0"/>
              </a:rPr>
              <a:t>Los mezcladores ExactaMix™2400 (EM2400) de Baxa son sistemas de bombeo automatizados que mezclan de forma rápida y exacta fórmulas estériles a partir de múltiples ingredientes, extrayendo las cantidades solicitadas de los ingredientes de origen de sus fuentes en una secuencia especificada por el usuario y bombeándolos a una fuente final. El sistema operativo de </a:t>
            </a:r>
            <a:r>
              <a:rPr lang="es-MX" sz="1050" dirty="0" err="1">
                <a:solidFill>
                  <a:schemeClr val="bg1">
                    <a:lumMod val="50000"/>
                  </a:schemeClr>
                </a:solidFill>
                <a:latin typeface="Arial" pitchFamily="34" charset="0"/>
                <a:cs typeface="Arial" pitchFamily="34" charset="0"/>
              </a:rPr>
              <a:t>ExactaMix</a:t>
            </a:r>
            <a:r>
              <a:rPr lang="es-MX" sz="1050" dirty="0">
                <a:solidFill>
                  <a:schemeClr val="bg1">
                    <a:lumMod val="50000"/>
                  </a:schemeClr>
                </a:solidFill>
                <a:latin typeface="Arial" pitchFamily="34" charset="0"/>
                <a:cs typeface="Arial" pitchFamily="34" charset="0"/>
              </a:rPr>
              <a:t> dirige este proceso usando una fórmula y dirigiendo El funcionamiento del mezclador para preparar la fórmula especificada. Use solamente bolsas estériles Baxa. No apto para uso con fuentes no </a:t>
            </a:r>
            <a:r>
              <a:rPr lang="es-MX" sz="1050" dirty="0" err="1">
                <a:solidFill>
                  <a:schemeClr val="bg1">
                    <a:lumMod val="50000"/>
                  </a:schemeClr>
                </a:solidFill>
                <a:latin typeface="Arial" pitchFamily="34" charset="0"/>
                <a:cs typeface="Arial" pitchFamily="34" charset="0"/>
              </a:rPr>
              <a:t>stériles</a:t>
            </a:r>
            <a:r>
              <a:rPr lang="es-MX" sz="1050" dirty="0">
                <a:solidFill>
                  <a:schemeClr val="bg1">
                    <a:lumMod val="50000"/>
                  </a:schemeClr>
                </a:solidFill>
                <a:latin typeface="Arial" pitchFamily="34" charset="0"/>
                <a:cs typeface="Arial" pitchFamily="34" charset="0"/>
              </a:rPr>
              <a:t>. Entre las características de este sistema se incluyen: • Bombea hasta 24 ingredientes en volúmenes que varían de 0,2 a 5.500 ml.</a:t>
            </a:r>
          </a:p>
          <a:p>
            <a:pPr algn="just">
              <a:buClr>
                <a:srgbClr val="00B0F0"/>
              </a:buClr>
            </a:pPr>
            <a:endParaRPr lang="es-MX" sz="1050" dirty="0">
              <a:solidFill>
                <a:schemeClr val="bg1">
                  <a:lumMod val="50000"/>
                </a:schemeClr>
              </a:solidFill>
              <a:latin typeface="Arial" pitchFamily="34" charset="0"/>
              <a:cs typeface="Arial" pitchFamily="34" charset="0"/>
            </a:endParaRPr>
          </a:p>
        </p:txBody>
      </p:sp>
      <p:sp>
        <p:nvSpPr>
          <p:cNvPr id="14" name="13 CuadroTexto"/>
          <p:cNvSpPr txBox="1"/>
          <p:nvPr/>
        </p:nvSpPr>
        <p:spPr>
          <a:xfrm>
            <a:off x="4737010" y="1605283"/>
            <a:ext cx="4178300" cy="1354217"/>
          </a:xfrm>
          <a:prstGeom prst="rect">
            <a:avLst/>
          </a:prstGeom>
          <a:noFill/>
        </p:spPr>
        <p:txBody>
          <a:bodyPr wrap="square" rtlCol="0">
            <a:spAutoFit/>
          </a:bodyPr>
          <a:lstStyle/>
          <a:p>
            <a:pPr>
              <a:buClr>
                <a:srgbClr val="00B0F0"/>
              </a:buClr>
            </a:pPr>
            <a:r>
              <a:rPr lang="es-CO" b="1" dirty="0">
                <a:latin typeface="Arial" pitchFamily="34" charset="0"/>
                <a:cs typeface="Arial" pitchFamily="34" charset="0"/>
              </a:rPr>
              <a:t>Limpieza y desinfección.</a:t>
            </a:r>
          </a:p>
          <a:p>
            <a:pPr algn="just"/>
            <a:endParaRPr lang="en-GB" sz="1000" dirty="0">
              <a:latin typeface="Arial" panose="020B0604020202020204" pitchFamily="34" charset="0"/>
              <a:cs typeface="Arial" panose="020B0604020202020204" pitchFamily="34" charset="0"/>
            </a:endParaRPr>
          </a:p>
          <a:p>
            <a:pPr marL="285750" lvl="0" indent="-285750" algn="just">
              <a:buFont typeface="Arial" panose="020B0604020202020204" pitchFamily="34" charset="0"/>
              <a:buChar char="•"/>
            </a:pPr>
            <a:endParaRPr lang="es-CO" dirty="0">
              <a:latin typeface="Arial" panose="020B0604020202020204" pitchFamily="34" charset="0"/>
              <a:cs typeface="Arial" panose="020B0604020202020204" pitchFamily="34" charset="0"/>
            </a:endParaRPr>
          </a:p>
          <a:p>
            <a:pPr>
              <a:buClr>
                <a:srgbClr val="00B0F0"/>
              </a:buClr>
            </a:pPr>
            <a:endParaRPr lang="es-CO" b="1" dirty="0">
              <a:solidFill>
                <a:schemeClr val="bg1">
                  <a:lumMod val="50000"/>
                </a:schemeClr>
              </a:solidFill>
            </a:endParaRPr>
          </a:p>
          <a:p>
            <a:pPr>
              <a:buClr>
                <a:srgbClr val="00B0F0"/>
              </a:buClr>
            </a:pPr>
            <a:endParaRPr lang="es-CO" b="1" dirty="0">
              <a:solidFill>
                <a:srgbClr val="00B0F0"/>
              </a:solidFill>
            </a:endParaRPr>
          </a:p>
        </p:txBody>
      </p:sp>
      <p:sp>
        <p:nvSpPr>
          <p:cNvPr id="27" name="CuadroTexto 26">
            <a:extLst>
              <a:ext uri="{FF2B5EF4-FFF2-40B4-BE49-F238E27FC236}">
                <a16:creationId xmlns:a16="http://schemas.microsoft.com/office/drawing/2014/main" id="{BA38BCF5-05F5-42F7-A798-18C0063610CD}"/>
              </a:ext>
            </a:extLst>
          </p:cNvPr>
          <p:cNvSpPr txBox="1"/>
          <p:nvPr/>
        </p:nvSpPr>
        <p:spPr>
          <a:xfrm>
            <a:off x="4659604" y="2673599"/>
            <a:ext cx="4374567" cy="3485570"/>
          </a:xfrm>
          <a:prstGeom prst="rect">
            <a:avLst/>
          </a:prstGeom>
          <a:noFill/>
        </p:spPr>
        <p:txBody>
          <a:bodyPr wrap="square">
            <a:spAutoFit/>
          </a:bodyPr>
          <a:lstStyle/>
          <a:p>
            <a:pPr algn="just">
              <a:buClr>
                <a:srgbClr val="00B0F0"/>
              </a:buClr>
            </a:pPr>
            <a:r>
              <a:rPr lang="es-MX" sz="1050" dirty="0">
                <a:solidFill>
                  <a:schemeClr val="bg1">
                    <a:lumMod val="50000"/>
                  </a:schemeClr>
                </a:solidFill>
                <a:latin typeface="Arial" pitchFamily="34" charset="0"/>
                <a:cs typeface="Arial" pitchFamily="34" charset="0"/>
              </a:rPr>
              <a:t>LIMPIEZA DEL MEZCLADOR</a:t>
            </a:r>
          </a:p>
          <a:p>
            <a:pPr algn="just">
              <a:buClr>
                <a:srgbClr val="00B0F0"/>
              </a:buClr>
            </a:pPr>
            <a:r>
              <a:rPr lang="es-MX" sz="1050" dirty="0">
                <a:solidFill>
                  <a:schemeClr val="bg1">
                    <a:lumMod val="50000"/>
                  </a:schemeClr>
                </a:solidFill>
                <a:latin typeface="Arial" pitchFamily="34" charset="0"/>
                <a:cs typeface="Arial" pitchFamily="34" charset="0"/>
              </a:rPr>
              <a:t>Limpie el mezclador cuando lo indique el protocolo de la institución. Utilice solo los siguientes</a:t>
            </a:r>
          </a:p>
          <a:p>
            <a:pPr marL="228600" indent="-228600" algn="just">
              <a:buClr>
                <a:srgbClr val="00B0F0"/>
              </a:buClr>
              <a:buAutoNum type="arabicPeriod"/>
            </a:pPr>
            <a:r>
              <a:rPr lang="es-MX" sz="1050" dirty="0">
                <a:solidFill>
                  <a:schemeClr val="bg1">
                    <a:lumMod val="50000"/>
                  </a:schemeClr>
                </a:solidFill>
                <a:latin typeface="Arial" pitchFamily="34" charset="0"/>
                <a:cs typeface="Arial" pitchFamily="34" charset="0"/>
              </a:rPr>
              <a:t>materiales aprobados:</a:t>
            </a:r>
          </a:p>
          <a:p>
            <a:pPr marL="228600" indent="-228600" algn="just">
              <a:buClr>
                <a:srgbClr val="00B0F0"/>
              </a:buClr>
              <a:buAutoNum type="arabicPeriod"/>
            </a:pPr>
            <a:r>
              <a:rPr lang="es-MX" sz="1050" dirty="0">
                <a:solidFill>
                  <a:schemeClr val="bg1">
                    <a:lumMod val="50000"/>
                  </a:schemeClr>
                </a:solidFill>
                <a:latin typeface="Arial" pitchFamily="34" charset="0"/>
                <a:cs typeface="Arial" pitchFamily="34" charset="0"/>
              </a:rPr>
              <a:t>• paño no abrasivo</a:t>
            </a:r>
          </a:p>
          <a:p>
            <a:pPr marL="228600" indent="-228600" algn="just">
              <a:buClr>
                <a:srgbClr val="00B0F0"/>
              </a:buClr>
              <a:buAutoNum type="arabicPeriod"/>
            </a:pPr>
            <a:r>
              <a:rPr lang="es-MX" sz="1050" dirty="0">
                <a:solidFill>
                  <a:schemeClr val="bg1">
                    <a:lumMod val="50000"/>
                  </a:schemeClr>
                </a:solidFill>
                <a:latin typeface="Arial" pitchFamily="34" charset="0"/>
                <a:cs typeface="Arial" pitchFamily="34" charset="0"/>
              </a:rPr>
              <a:t>• agua y jabón</a:t>
            </a:r>
          </a:p>
          <a:p>
            <a:pPr marL="228600" indent="-228600" algn="just">
              <a:buClr>
                <a:srgbClr val="00B0F0"/>
              </a:buClr>
              <a:buAutoNum type="arabicPeriod"/>
            </a:pPr>
            <a:r>
              <a:rPr lang="es-MX" sz="1050" dirty="0">
                <a:solidFill>
                  <a:schemeClr val="bg1">
                    <a:lumMod val="50000"/>
                  </a:schemeClr>
                </a:solidFill>
                <a:latin typeface="Arial" pitchFamily="34" charset="0"/>
                <a:cs typeface="Arial" pitchFamily="34" charset="0"/>
              </a:rPr>
              <a:t>• alcohol isopropílico al 70% u otro desinfectante que se seque con rapidez</a:t>
            </a:r>
          </a:p>
          <a:p>
            <a:pPr marL="228600" indent="-228600" algn="just">
              <a:buClr>
                <a:srgbClr val="00B0F0"/>
              </a:buClr>
              <a:buAutoNum type="arabicPeriod"/>
            </a:pPr>
            <a:r>
              <a:rPr lang="es-MX" sz="1050" dirty="0">
                <a:solidFill>
                  <a:schemeClr val="bg1">
                    <a:lumMod val="50000"/>
                  </a:schemeClr>
                </a:solidFill>
                <a:latin typeface="Arial" pitchFamily="34" charset="0"/>
                <a:cs typeface="Arial" pitchFamily="34" charset="0"/>
              </a:rPr>
              <a:t>• povidona yodada</a:t>
            </a:r>
          </a:p>
          <a:p>
            <a:pPr algn="just">
              <a:buClr>
                <a:srgbClr val="00B0F0"/>
              </a:buClr>
            </a:pPr>
            <a:r>
              <a:rPr lang="es-MX" sz="1050" dirty="0">
                <a:solidFill>
                  <a:schemeClr val="bg1">
                    <a:lumMod val="50000"/>
                  </a:schemeClr>
                </a:solidFill>
                <a:latin typeface="Arial" pitchFamily="34" charset="0"/>
                <a:cs typeface="Arial" pitchFamily="34" charset="0"/>
              </a:rPr>
              <a:t>¡Sugerencia! Baxa recomienda limpiar el mezclador todos los días, cada vez que se cambie el set de tubos o cada vez que haya un derrame.</a:t>
            </a:r>
          </a:p>
          <a:p>
            <a:pPr algn="just">
              <a:buClr>
                <a:srgbClr val="00B0F0"/>
              </a:buClr>
            </a:pPr>
            <a:r>
              <a:rPr lang="es-MX" sz="1050" dirty="0">
                <a:solidFill>
                  <a:schemeClr val="bg1">
                    <a:lumMod val="50000"/>
                  </a:schemeClr>
                </a:solidFill>
                <a:latin typeface="Arial" pitchFamily="34" charset="0"/>
                <a:cs typeface="Arial" pitchFamily="34" charset="0"/>
              </a:rPr>
              <a:t>PRECAUCIÓN</a:t>
            </a:r>
          </a:p>
          <a:p>
            <a:pPr algn="just">
              <a:buClr>
                <a:srgbClr val="00B0F0"/>
              </a:buClr>
            </a:pPr>
            <a:r>
              <a:rPr lang="es-MX" sz="1050" dirty="0">
                <a:solidFill>
                  <a:schemeClr val="bg1">
                    <a:lumMod val="50000"/>
                  </a:schemeClr>
                </a:solidFill>
                <a:latin typeface="Arial" pitchFamily="34" charset="0"/>
                <a:cs typeface="Arial" pitchFamily="34" charset="0"/>
              </a:rPr>
              <a:t>La limpieza es necesaria para garantizar que el mezclador funcione de la forma prevista. Si no se limpia, es posible que el mezclador no funcione como debe. No sumerja el mezclador en líquido ni utilice soluciones de hipoclorito de sodio (por ejemplo, </a:t>
            </a:r>
            <a:r>
              <a:rPr lang="es-MX" sz="1050" dirty="0" err="1">
                <a:solidFill>
                  <a:schemeClr val="bg1">
                    <a:lumMod val="50000"/>
                  </a:schemeClr>
                </a:solidFill>
                <a:latin typeface="Arial" pitchFamily="34" charset="0"/>
                <a:cs typeface="Arial" pitchFamily="34" charset="0"/>
              </a:rPr>
              <a:t>Clorox</a:t>
            </a:r>
            <a:r>
              <a:rPr lang="es-MX" sz="1050" dirty="0">
                <a:solidFill>
                  <a:schemeClr val="bg1">
                    <a:lumMod val="50000"/>
                  </a:schemeClr>
                </a:solidFill>
                <a:latin typeface="Arial" pitchFamily="34" charset="0"/>
                <a:cs typeface="Arial" pitchFamily="34" charset="0"/>
              </a:rPr>
              <a:t>®). Si el mezclador se desmonta más allá de lo necesario para realizar la limpieza como se describe en este procedimiento, se anulará la garantía del </a:t>
            </a:r>
            <a:r>
              <a:rPr lang="es-MX" sz="1050" dirty="0" err="1">
                <a:solidFill>
                  <a:schemeClr val="bg1">
                    <a:lumMod val="50000"/>
                  </a:schemeClr>
                </a:solidFill>
                <a:latin typeface="Arial" pitchFamily="34" charset="0"/>
                <a:cs typeface="Arial" pitchFamily="34" charset="0"/>
              </a:rPr>
              <a:t>fabricante.Apague</a:t>
            </a:r>
            <a:r>
              <a:rPr lang="es-MX" sz="1050" dirty="0">
                <a:solidFill>
                  <a:schemeClr val="bg1">
                    <a:lumMod val="50000"/>
                  </a:schemeClr>
                </a:solidFill>
                <a:latin typeface="Arial" pitchFamily="34" charset="0"/>
                <a:cs typeface="Arial" pitchFamily="34" charset="0"/>
              </a:rPr>
              <a:t> el dispositivo durante la limpieza de rutina.</a:t>
            </a:r>
            <a:endParaRPr lang="es-CO" sz="1050" dirty="0">
              <a:solidFill>
                <a:schemeClr val="bg1">
                  <a:lumMod val="50000"/>
                </a:schemeClr>
              </a:solidFill>
              <a:latin typeface="Arial" pitchFamily="34" charset="0"/>
              <a:cs typeface="Arial" pitchFamily="34" charset="0"/>
            </a:endParaRPr>
          </a:p>
        </p:txBody>
      </p:sp>
      <p:pic>
        <p:nvPicPr>
          <p:cNvPr id="10" name="Imagen 9">
            <a:extLst>
              <a:ext uri="{FF2B5EF4-FFF2-40B4-BE49-F238E27FC236}">
                <a16:creationId xmlns:a16="http://schemas.microsoft.com/office/drawing/2014/main" id="{7B661513-E0F9-4261-B266-9A6635C7E5D2}"/>
              </a:ext>
            </a:extLst>
          </p:cNvPr>
          <p:cNvPicPr>
            <a:picLocks noChangeAspect="1"/>
          </p:cNvPicPr>
          <p:nvPr/>
        </p:nvPicPr>
        <p:blipFill>
          <a:blip r:embed="rId2"/>
          <a:stretch>
            <a:fillRect/>
          </a:stretch>
        </p:blipFill>
        <p:spPr>
          <a:xfrm>
            <a:off x="2915816" y="1548831"/>
            <a:ext cx="1329079" cy="1327012"/>
          </a:xfrm>
          <a:prstGeom prst="rect">
            <a:avLst/>
          </a:prstGeom>
        </p:spPr>
      </p:pic>
      <p:sp>
        <p:nvSpPr>
          <p:cNvPr id="19" name="3 CuadroTexto">
            <a:extLst>
              <a:ext uri="{FF2B5EF4-FFF2-40B4-BE49-F238E27FC236}">
                <a16:creationId xmlns:a16="http://schemas.microsoft.com/office/drawing/2014/main" id="{ACD1E90F-6DBB-47A0-9285-00D9DE06F827}"/>
              </a:ext>
            </a:extLst>
          </p:cNvPr>
          <p:cNvSpPr txBox="1">
            <a:spLocks noChangeArrowheads="1"/>
          </p:cNvSpPr>
          <p:nvPr/>
        </p:nvSpPr>
        <p:spPr bwMode="auto">
          <a:xfrm>
            <a:off x="4433859" y="534832"/>
            <a:ext cx="39528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599" tIns="50799" rIns="101599" bIns="50799">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s-CO" sz="1100" b="1" dirty="0">
                <a:solidFill>
                  <a:srgbClr val="188A33"/>
                </a:solidFill>
                <a:latin typeface="Arial" charset="0"/>
              </a:rPr>
              <a:t>GUÍA RÁPIDA </a:t>
            </a:r>
            <a:endParaRPr lang="es-CO" sz="1100" dirty="0">
              <a:solidFill>
                <a:srgbClr val="188A33"/>
              </a:solidFill>
              <a:latin typeface="Arial" charset="0"/>
            </a:endParaRPr>
          </a:p>
        </p:txBody>
      </p:sp>
      <p:pic>
        <p:nvPicPr>
          <p:cNvPr id="20" name="Imagen 19">
            <a:extLst>
              <a:ext uri="{FF2B5EF4-FFF2-40B4-BE49-F238E27FC236}">
                <a16:creationId xmlns:a16="http://schemas.microsoft.com/office/drawing/2014/main" id="{2A40DE74-F875-469C-9648-9A0957032712}"/>
              </a:ext>
            </a:extLst>
          </p:cNvPr>
          <p:cNvPicPr/>
          <p:nvPr/>
        </p:nvPicPr>
        <p:blipFill>
          <a:blip r:embed="rId3"/>
          <a:stretch>
            <a:fillRect/>
          </a:stretch>
        </p:blipFill>
        <p:spPr>
          <a:xfrm>
            <a:off x="2457422" y="523571"/>
            <a:ext cx="1920240" cy="350520"/>
          </a:xfrm>
          <a:prstGeom prst="rect">
            <a:avLst/>
          </a:prstGeom>
        </p:spPr>
      </p:pic>
      <p:pic>
        <p:nvPicPr>
          <p:cNvPr id="21" name="Imagen 20">
            <a:extLst>
              <a:ext uri="{FF2B5EF4-FFF2-40B4-BE49-F238E27FC236}">
                <a16:creationId xmlns:a16="http://schemas.microsoft.com/office/drawing/2014/main" id="{54B436BD-A1BA-4880-89CD-43890BDD5DEB}"/>
              </a:ext>
            </a:extLst>
          </p:cNvPr>
          <p:cNvPicPr/>
          <p:nvPr/>
        </p:nvPicPr>
        <p:blipFill>
          <a:blip r:embed="rId3"/>
          <a:stretch>
            <a:fillRect/>
          </a:stretch>
        </p:blipFill>
        <p:spPr>
          <a:xfrm>
            <a:off x="7208728" y="455775"/>
            <a:ext cx="1920240" cy="350520"/>
          </a:xfrm>
          <a:prstGeom prst="rect">
            <a:avLst/>
          </a:prstGeom>
        </p:spPr>
      </p:pic>
      <p:graphicFrame>
        <p:nvGraphicFramePr>
          <p:cNvPr id="22" name="Objeto 21">
            <a:extLst>
              <a:ext uri="{FF2B5EF4-FFF2-40B4-BE49-F238E27FC236}">
                <a16:creationId xmlns:a16="http://schemas.microsoft.com/office/drawing/2014/main" id="{AF846046-B49D-4AF5-86E8-2408415202A2}"/>
              </a:ext>
            </a:extLst>
          </p:cNvPr>
          <p:cNvGraphicFramePr>
            <a:graphicFrameLocks noChangeAspect="1"/>
          </p:cNvGraphicFramePr>
          <p:nvPr>
            <p:extLst>
              <p:ext uri="{D42A27DB-BD31-4B8C-83A1-F6EECF244321}">
                <p14:modId xmlns:p14="http://schemas.microsoft.com/office/powerpoint/2010/main" val="837998317"/>
              </p:ext>
            </p:extLst>
          </p:nvPr>
        </p:nvGraphicFramePr>
        <p:xfrm>
          <a:off x="270139" y="6525344"/>
          <a:ext cx="1428750" cy="241300"/>
        </p:xfrm>
        <a:graphic>
          <a:graphicData uri="http://schemas.openxmlformats.org/presentationml/2006/ole">
            <mc:AlternateContent xmlns:mc="http://schemas.openxmlformats.org/markup-compatibility/2006">
              <mc:Choice xmlns:v="urn:schemas-microsoft-com:vml" Requires="v">
                <p:oleObj name="Picture" r:id="rId4" imgW="944880" imgH="161544" progId="Word.Picture.8">
                  <p:embed/>
                </p:oleObj>
              </mc:Choice>
              <mc:Fallback>
                <p:oleObj name="Picture" r:id="rId4" imgW="944880" imgH="161544" progId="Word.Picture.8">
                  <p:embed/>
                  <p:pic>
                    <p:nvPicPr>
                      <p:cNvPr id="3" name="Objeto 2">
                        <a:extLst>
                          <a:ext uri="{FF2B5EF4-FFF2-40B4-BE49-F238E27FC236}">
                            <a16:creationId xmlns:a16="http://schemas.microsoft.com/office/drawing/2014/main" id="{F4B014C5-C058-4998-99B8-C85BBD51AB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139" y="6525344"/>
                        <a:ext cx="142875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to 22">
            <a:extLst>
              <a:ext uri="{FF2B5EF4-FFF2-40B4-BE49-F238E27FC236}">
                <a16:creationId xmlns:a16="http://schemas.microsoft.com/office/drawing/2014/main" id="{1C0C9F71-24D5-4E46-A4E7-22A74FD2FD5E}"/>
              </a:ext>
            </a:extLst>
          </p:cNvPr>
          <p:cNvGraphicFramePr>
            <a:graphicFrameLocks noChangeAspect="1"/>
          </p:cNvGraphicFramePr>
          <p:nvPr>
            <p:extLst>
              <p:ext uri="{D42A27DB-BD31-4B8C-83A1-F6EECF244321}">
                <p14:modId xmlns:p14="http://schemas.microsoft.com/office/powerpoint/2010/main" val="3229116889"/>
              </p:ext>
            </p:extLst>
          </p:nvPr>
        </p:nvGraphicFramePr>
        <p:xfrm>
          <a:off x="7672359" y="6475969"/>
          <a:ext cx="1428750" cy="241300"/>
        </p:xfrm>
        <a:graphic>
          <a:graphicData uri="http://schemas.openxmlformats.org/presentationml/2006/ole">
            <mc:AlternateContent xmlns:mc="http://schemas.openxmlformats.org/markup-compatibility/2006">
              <mc:Choice xmlns:v="urn:schemas-microsoft-com:vml" Requires="v">
                <p:oleObj name="Picture" r:id="rId6" imgW="944880" imgH="161544" progId="Word.Picture.8">
                  <p:embed/>
                </p:oleObj>
              </mc:Choice>
              <mc:Fallback>
                <p:oleObj name="Picture" r:id="rId6" imgW="944880" imgH="161544" progId="Word.Picture.8">
                  <p:embed/>
                  <p:pic>
                    <p:nvPicPr>
                      <p:cNvPr id="3" name="Objeto 2">
                        <a:extLst>
                          <a:ext uri="{FF2B5EF4-FFF2-40B4-BE49-F238E27FC236}">
                            <a16:creationId xmlns:a16="http://schemas.microsoft.com/office/drawing/2014/main" id="{F4B014C5-C058-4998-99B8-C85BBD51AB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2359" y="6475969"/>
                        <a:ext cx="142875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12 CuadroTexto"/>
          <p:cNvSpPr txBox="1"/>
          <p:nvPr/>
        </p:nvSpPr>
        <p:spPr>
          <a:xfrm>
            <a:off x="165390" y="1537236"/>
            <a:ext cx="4374567" cy="3347070"/>
          </a:xfrm>
          <a:prstGeom prst="rect">
            <a:avLst/>
          </a:prstGeom>
          <a:noFill/>
        </p:spPr>
        <p:txBody>
          <a:bodyPr wrap="square" rtlCol="0">
            <a:spAutoFit/>
          </a:bodyPr>
          <a:lstStyle/>
          <a:p>
            <a:pPr>
              <a:buClr>
                <a:srgbClr val="00B0F0"/>
              </a:buClr>
            </a:pPr>
            <a:r>
              <a:rPr lang="es-CO" b="1" dirty="0">
                <a:latin typeface="Arial" pitchFamily="34" charset="0"/>
                <a:cs typeface="Arial" pitchFamily="34" charset="0"/>
              </a:rPr>
              <a:t>Uso y manejo.</a:t>
            </a:r>
          </a:p>
          <a:p>
            <a:pPr>
              <a:buClr>
                <a:srgbClr val="00B0F0"/>
              </a:buClr>
            </a:pPr>
            <a:endParaRPr lang="es-CO" b="1" dirty="0">
              <a:solidFill>
                <a:srgbClr val="00B0F0"/>
              </a:solidFill>
              <a:latin typeface="Arial" pitchFamily="34" charset="0"/>
              <a:cs typeface="Arial" pitchFamily="34" charset="0"/>
            </a:endParaRPr>
          </a:p>
          <a:p>
            <a:pPr algn="just">
              <a:buClr>
                <a:srgbClr val="00B0F0"/>
              </a:buClr>
            </a:pPr>
            <a:r>
              <a:rPr lang="es-MX" sz="1050" dirty="0">
                <a:solidFill>
                  <a:schemeClr val="bg1">
                    <a:lumMod val="50000"/>
                  </a:schemeClr>
                </a:solidFill>
                <a:latin typeface="Arial" pitchFamily="34" charset="0"/>
                <a:cs typeface="Arial" pitchFamily="34" charset="0"/>
              </a:rPr>
              <a:t>Dispensación de ingredientes en una secuencia definida por el usuario • Acepta fórmulas para mezclar de toda una variedad de introducción de pedidos y fórmulas introducidas directamente. • Usa un código de barras de una etiqueta de fórmula (producida por un programa de introducción de pedidos/cálculo como el software </a:t>
            </a:r>
            <a:r>
              <a:rPr lang="es-MX" sz="1050" dirty="0" err="1">
                <a:solidFill>
                  <a:schemeClr val="bg1">
                    <a:lumMod val="50000"/>
                  </a:schemeClr>
                </a:solidFill>
                <a:latin typeface="Arial" pitchFamily="34" charset="0"/>
                <a:cs typeface="Arial" pitchFamily="34" charset="0"/>
              </a:rPr>
              <a:t>Abacus</a:t>
            </a:r>
            <a:r>
              <a:rPr lang="es-MX" sz="1050" dirty="0">
                <a:solidFill>
                  <a:schemeClr val="bg1">
                    <a:lumMod val="50000"/>
                  </a:schemeClr>
                </a:solidFill>
                <a:latin typeface="Arial" pitchFamily="34" charset="0"/>
                <a:cs typeface="Arial" pitchFamily="34" charset="0"/>
              </a:rPr>
              <a:t>™ de Baxa) para cargar la fórmula a mezclar • Usa códigos de barras en los tubos y fuentes de origen para verificar la configuración adecuada de las fuentes de origen y cambios • Imprime códigos de barras para las fuentes de origen y de entrada • Combina verificación volumétrica/gravimétrica para precisión en las fórmulas • Ofrece informes </a:t>
            </a:r>
            <a:r>
              <a:rPr lang="es-MX" sz="1050" dirty="0" err="1">
                <a:solidFill>
                  <a:schemeClr val="bg1">
                    <a:lumMod val="50000"/>
                  </a:schemeClr>
                </a:solidFill>
                <a:latin typeface="Arial" pitchFamily="34" charset="0"/>
                <a:cs typeface="Arial" pitchFamily="34" charset="0"/>
              </a:rPr>
              <a:t>MixCheck™para</a:t>
            </a:r>
            <a:r>
              <a:rPr lang="es-MX" sz="1050" dirty="0">
                <a:solidFill>
                  <a:schemeClr val="bg1">
                    <a:lumMod val="50000"/>
                  </a:schemeClr>
                </a:solidFill>
                <a:latin typeface="Arial" pitchFamily="34" charset="0"/>
                <a:cs typeface="Arial" pitchFamily="34" charset="0"/>
              </a:rPr>
              <a:t> cada solución mezclada •</a:t>
            </a:r>
          </a:p>
          <a:p>
            <a:pPr algn="just">
              <a:buClr>
                <a:srgbClr val="00B0F0"/>
              </a:buClr>
            </a:pPr>
            <a:r>
              <a:rPr lang="es-MX" sz="1050" dirty="0">
                <a:solidFill>
                  <a:schemeClr val="bg1">
                    <a:lumMod val="50000"/>
                  </a:schemeClr>
                </a:solidFill>
                <a:latin typeface="Arial" pitchFamily="34" charset="0"/>
                <a:cs typeface="Arial" pitchFamily="34" charset="0"/>
              </a:rPr>
              <a:t>Registra actividad de importancia crítica del mezclador en una “caja negra” que ofrece la capacidad de registro de auditoría • Hace un seguimiento de</a:t>
            </a:r>
          </a:p>
          <a:p>
            <a:pPr algn="just">
              <a:buClr>
                <a:srgbClr val="00B0F0"/>
              </a:buClr>
            </a:pPr>
            <a:r>
              <a:rPr lang="es-MX" sz="1050" dirty="0">
                <a:solidFill>
                  <a:schemeClr val="bg1">
                    <a:lumMod val="50000"/>
                  </a:schemeClr>
                </a:solidFill>
                <a:latin typeface="Arial" pitchFamily="34" charset="0"/>
                <a:cs typeface="Arial" pitchFamily="34" charset="0"/>
              </a:rPr>
              <a:t>los números de lote y de las fechas de caducidad de los ingredientes</a:t>
            </a:r>
            <a:endParaRPr lang="es-CO" sz="1050" dirty="0">
              <a:solidFill>
                <a:schemeClr val="bg1">
                  <a:lumMod val="50000"/>
                </a:schemeClr>
              </a:solidFill>
              <a:latin typeface="Arial" pitchFamily="34" charset="0"/>
              <a:cs typeface="Arial" pitchFamily="34" charset="0"/>
            </a:endParaRPr>
          </a:p>
          <a:p>
            <a:pPr>
              <a:buClr>
                <a:srgbClr val="00B0F0"/>
              </a:buClr>
            </a:pPr>
            <a:endParaRPr lang="es-CO" b="1" dirty="0">
              <a:solidFill>
                <a:srgbClr val="00B0F0"/>
              </a:solidFill>
            </a:endParaRPr>
          </a:p>
        </p:txBody>
      </p:sp>
      <p:sp>
        <p:nvSpPr>
          <p:cNvPr id="15" name="14 CuadroTexto"/>
          <p:cNvSpPr txBox="1"/>
          <p:nvPr/>
        </p:nvSpPr>
        <p:spPr>
          <a:xfrm>
            <a:off x="4793372" y="1585330"/>
            <a:ext cx="3919814" cy="984885"/>
          </a:xfrm>
          <a:prstGeom prst="rect">
            <a:avLst/>
          </a:prstGeom>
          <a:noFill/>
        </p:spPr>
        <p:txBody>
          <a:bodyPr wrap="square" rtlCol="0">
            <a:spAutoFit/>
          </a:bodyPr>
          <a:lstStyle/>
          <a:p>
            <a:r>
              <a:rPr lang="es-CO" b="1" dirty="0">
                <a:latin typeface="Arial" pitchFamily="34" charset="0"/>
                <a:cs typeface="Arial" pitchFamily="34" charset="0"/>
              </a:rPr>
              <a:t>¿Que hacer en caso de falla?</a:t>
            </a:r>
          </a:p>
          <a:p>
            <a:pPr algn="just"/>
            <a:r>
              <a:rPr lang="es-CO" sz="1000" b="1" dirty="0">
                <a:solidFill>
                  <a:srgbClr val="00B0F0"/>
                </a:solidFill>
                <a:latin typeface="Arial" pitchFamily="34" charset="0"/>
                <a:cs typeface="Arial" pitchFamily="34" charset="0"/>
              </a:rPr>
              <a:t> </a:t>
            </a:r>
          </a:p>
          <a:p>
            <a:pPr algn="just"/>
            <a:r>
              <a:rPr lang="es-CO" sz="1000" dirty="0">
                <a:solidFill>
                  <a:schemeClr val="bg1">
                    <a:lumMod val="50000"/>
                  </a:schemeClr>
                </a:solidFill>
                <a:latin typeface="Arial" pitchFamily="34" charset="0"/>
                <a:cs typeface="Arial" pitchFamily="34" charset="0"/>
              </a:rPr>
              <a:t>Comuníquese con las líneas telefónicas estipuladas y realice la mesa de ayuda a Ingeniería Biomédica  por medio del sistema de gestión integrado.</a:t>
            </a:r>
            <a:endParaRPr lang="es-CO" sz="1050" dirty="0">
              <a:solidFill>
                <a:schemeClr val="bg1">
                  <a:lumMod val="50000"/>
                </a:schemeClr>
              </a:solidFill>
            </a:endParaRPr>
          </a:p>
        </p:txBody>
      </p:sp>
      <p:pic>
        <p:nvPicPr>
          <p:cNvPr id="5" name="Imagen 4">
            <a:extLst>
              <a:ext uri="{FF2B5EF4-FFF2-40B4-BE49-F238E27FC236}">
                <a16:creationId xmlns:a16="http://schemas.microsoft.com/office/drawing/2014/main" id="{A9E39839-6EC3-4672-B4AD-0CD256F42BBD}"/>
              </a:ext>
            </a:extLst>
          </p:cNvPr>
          <p:cNvPicPr>
            <a:picLocks noChangeAspect="1"/>
          </p:cNvPicPr>
          <p:nvPr/>
        </p:nvPicPr>
        <p:blipFill>
          <a:blip r:embed="rId2"/>
          <a:stretch>
            <a:fillRect/>
          </a:stretch>
        </p:blipFill>
        <p:spPr>
          <a:xfrm>
            <a:off x="5004012" y="2924944"/>
            <a:ext cx="3717455" cy="2777928"/>
          </a:xfrm>
          <a:prstGeom prst="rect">
            <a:avLst/>
          </a:prstGeom>
        </p:spPr>
      </p:pic>
      <p:sp>
        <p:nvSpPr>
          <p:cNvPr id="17" name="3 CuadroTexto">
            <a:extLst>
              <a:ext uri="{FF2B5EF4-FFF2-40B4-BE49-F238E27FC236}">
                <a16:creationId xmlns:a16="http://schemas.microsoft.com/office/drawing/2014/main" id="{EA1068AA-3B38-4709-99BC-C2A63F2C603C}"/>
              </a:ext>
            </a:extLst>
          </p:cNvPr>
          <p:cNvSpPr txBox="1">
            <a:spLocks noChangeArrowheads="1"/>
          </p:cNvSpPr>
          <p:nvPr/>
        </p:nvSpPr>
        <p:spPr bwMode="auto">
          <a:xfrm>
            <a:off x="4595121" y="439578"/>
            <a:ext cx="39528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599" tIns="50799" rIns="101599" bIns="50799">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s-CO" sz="1100" b="1" dirty="0">
                <a:solidFill>
                  <a:srgbClr val="188A33"/>
                </a:solidFill>
                <a:latin typeface="Arial" charset="0"/>
              </a:rPr>
              <a:t>GUÍA RÁPIDA</a:t>
            </a:r>
            <a:endParaRPr lang="es-CO" sz="1100" dirty="0">
              <a:solidFill>
                <a:srgbClr val="188A33"/>
              </a:solidFill>
              <a:latin typeface="Arial" charset="0"/>
            </a:endParaRPr>
          </a:p>
        </p:txBody>
      </p:sp>
      <p:sp>
        <p:nvSpPr>
          <p:cNvPr id="18" name="3 CuadroTexto">
            <a:extLst>
              <a:ext uri="{FF2B5EF4-FFF2-40B4-BE49-F238E27FC236}">
                <a16:creationId xmlns:a16="http://schemas.microsoft.com/office/drawing/2014/main" id="{03F1DBE0-FBE1-4237-AB9A-2D85D9B12F0C}"/>
              </a:ext>
            </a:extLst>
          </p:cNvPr>
          <p:cNvSpPr txBox="1">
            <a:spLocks noChangeArrowheads="1"/>
          </p:cNvSpPr>
          <p:nvPr/>
        </p:nvSpPr>
        <p:spPr bwMode="auto">
          <a:xfrm>
            <a:off x="-238200" y="470432"/>
            <a:ext cx="39528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599" tIns="50799" rIns="101599" bIns="50799">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s-CO" sz="1100" b="1" dirty="0">
                <a:solidFill>
                  <a:srgbClr val="188A33"/>
                </a:solidFill>
                <a:latin typeface="Arial" charset="0"/>
              </a:rPr>
              <a:t>GUÍA RÁPIDA</a:t>
            </a:r>
            <a:endParaRPr lang="es-CO" sz="1100" dirty="0">
              <a:solidFill>
                <a:srgbClr val="188A33"/>
              </a:solidFill>
              <a:latin typeface="Arial" charset="0"/>
            </a:endParaRPr>
          </a:p>
        </p:txBody>
      </p:sp>
      <p:pic>
        <p:nvPicPr>
          <p:cNvPr id="19" name="Imagen 18">
            <a:extLst>
              <a:ext uri="{FF2B5EF4-FFF2-40B4-BE49-F238E27FC236}">
                <a16:creationId xmlns:a16="http://schemas.microsoft.com/office/drawing/2014/main" id="{592DE8D9-9E01-41A6-93A9-04100AAC4AC9}"/>
              </a:ext>
            </a:extLst>
          </p:cNvPr>
          <p:cNvPicPr/>
          <p:nvPr/>
        </p:nvPicPr>
        <p:blipFill>
          <a:blip r:embed="rId3"/>
          <a:stretch>
            <a:fillRect/>
          </a:stretch>
        </p:blipFill>
        <p:spPr>
          <a:xfrm>
            <a:off x="2352674" y="400050"/>
            <a:ext cx="1920240" cy="350520"/>
          </a:xfrm>
          <a:prstGeom prst="rect">
            <a:avLst/>
          </a:prstGeom>
        </p:spPr>
      </p:pic>
      <p:pic>
        <p:nvPicPr>
          <p:cNvPr id="20" name="Imagen 19">
            <a:extLst>
              <a:ext uri="{FF2B5EF4-FFF2-40B4-BE49-F238E27FC236}">
                <a16:creationId xmlns:a16="http://schemas.microsoft.com/office/drawing/2014/main" id="{F00EE5A4-3DD3-450F-9D78-D557B5495C22}"/>
              </a:ext>
            </a:extLst>
          </p:cNvPr>
          <p:cNvPicPr/>
          <p:nvPr/>
        </p:nvPicPr>
        <p:blipFill>
          <a:blip r:embed="rId3"/>
          <a:stretch>
            <a:fillRect/>
          </a:stretch>
        </p:blipFill>
        <p:spPr>
          <a:xfrm>
            <a:off x="7129798" y="400050"/>
            <a:ext cx="1920240" cy="350520"/>
          </a:xfrm>
          <a:prstGeom prst="rect">
            <a:avLst/>
          </a:prstGeom>
        </p:spPr>
      </p:pic>
      <p:sp>
        <p:nvSpPr>
          <p:cNvPr id="2" name="Rectangle 2">
            <a:extLst>
              <a:ext uri="{FF2B5EF4-FFF2-40B4-BE49-F238E27FC236}">
                <a16:creationId xmlns:a16="http://schemas.microsoft.com/office/drawing/2014/main" id="{4316F6AD-1DFA-4738-BB31-848D68A2A42A}"/>
              </a:ext>
            </a:extLst>
          </p:cNvPr>
          <p:cNvSpPr>
            <a:spLocks noChangeArrowheads="1"/>
          </p:cNvSpPr>
          <p:nvPr/>
        </p:nvSpPr>
        <p:spPr bwMode="auto">
          <a:xfrm>
            <a:off x="263525" y="513841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graphicFrame>
        <p:nvGraphicFramePr>
          <p:cNvPr id="3" name="Objeto 2">
            <a:extLst>
              <a:ext uri="{FF2B5EF4-FFF2-40B4-BE49-F238E27FC236}">
                <a16:creationId xmlns:a16="http://schemas.microsoft.com/office/drawing/2014/main" id="{F4B014C5-C058-4998-99B8-C85BBD51AB8B}"/>
              </a:ext>
            </a:extLst>
          </p:cNvPr>
          <p:cNvGraphicFramePr>
            <a:graphicFrameLocks noChangeAspect="1"/>
          </p:cNvGraphicFramePr>
          <p:nvPr>
            <p:extLst>
              <p:ext uri="{D42A27DB-BD31-4B8C-83A1-F6EECF244321}">
                <p14:modId xmlns:p14="http://schemas.microsoft.com/office/powerpoint/2010/main" val="2298201642"/>
              </p:ext>
            </p:extLst>
          </p:nvPr>
        </p:nvGraphicFramePr>
        <p:xfrm>
          <a:off x="201259" y="6432232"/>
          <a:ext cx="1428750" cy="241300"/>
        </p:xfrm>
        <a:graphic>
          <a:graphicData uri="http://schemas.openxmlformats.org/presentationml/2006/ole">
            <mc:AlternateContent xmlns:mc="http://schemas.openxmlformats.org/markup-compatibility/2006">
              <mc:Choice xmlns:v="urn:schemas-microsoft-com:vml" Requires="v">
                <p:oleObj name="Picture" r:id="rId4" imgW="944880" imgH="161544" progId="Word.Picture.8">
                  <p:embed/>
                </p:oleObj>
              </mc:Choice>
              <mc:Fallback>
                <p:oleObj name="Picture" r:id="rId4" imgW="944880" imgH="161544" progId="Word.Picture.8">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259" y="6432232"/>
                        <a:ext cx="142875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to 21">
            <a:extLst>
              <a:ext uri="{FF2B5EF4-FFF2-40B4-BE49-F238E27FC236}">
                <a16:creationId xmlns:a16="http://schemas.microsoft.com/office/drawing/2014/main" id="{0CDCC035-5B89-4EB7-BB54-1AD6761BE161}"/>
              </a:ext>
            </a:extLst>
          </p:cNvPr>
          <p:cNvGraphicFramePr>
            <a:graphicFrameLocks noChangeAspect="1"/>
          </p:cNvGraphicFramePr>
          <p:nvPr>
            <p:extLst>
              <p:ext uri="{D42A27DB-BD31-4B8C-83A1-F6EECF244321}">
                <p14:modId xmlns:p14="http://schemas.microsoft.com/office/powerpoint/2010/main" val="55358809"/>
              </p:ext>
            </p:extLst>
          </p:nvPr>
        </p:nvGraphicFramePr>
        <p:xfrm>
          <a:off x="7715250" y="6528910"/>
          <a:ext cx="1428750" cy="241300"/>
        </p:xfrm>
        <a:graphic>
          <a:graphicData uri="http://schemas.openxmlformats.org/presentationml/2006/ole">
            <mc:AlternateContent xmlns:mc="http://schemas.openxmlformats.org/markup-compatibility/2006">
              <mc:Choice xmlns:v="urn:schemas-microsoft-com:vml" Requires="v">
                <p:oleObj name="Picture" r:id="rId6" imgW="944880" imgH="161544" progId="Word.Picture.8">
                  <p:embed/>
                </p:oleObj>
              </mc:Choice>
              <mc:Fallback>
                <p:oleObj name="Picture" r:id="rId6" imgW="944880" imgH="161544" progId="Word.Picture.8">
                  <p:embed/>
                  <p:pic>
                    <p:nvPicPr>
                      <p:cNvPr id="3" name="Objeto 2">
                        <a:extLst>
                          <a:ext uri="{FF2B5EF4-FFF2-40B4-BE49-F238E27FC236}">
                            <a16:creationId xmlns:a16="http://schemas.microsoft.com/office/drawing/2014/main" id="{F4B014C5-C058-4998-99B8-C85BBD51AB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250" y="6528910"/>
                        <a:ext cx="142875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53239951"/>
      </p:ext>
    </p:extLst>
  </p:cSld>
  <p:clrMapOvr>
    <a:masterClrMapping/>
  </p:clrMapOvr>
</p:sld>
</file>

<file path=ppt/theme/theme1.xml><?xml version="1.0" encoding="utf-8"?>
<a:theme xmlns:a="http://schemas.openxmlformats.org/drawingml/2006/main" name="plantilla Guias rapidas 202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 Guias rapidas 2021</Template>
  <TotalTime>572</TotalTime>
  <Words>521</Words>
  <Application>Microsoft Office PowerPoint</Application>
  <PresentationFormat>Presentación en pantalla (4:3)</PresentationFormat>
  <Paragraphs>40</Paragraphs>
  <Slides>2</Slides>
  <Notes>0</Notes>
  <HiddenSlides>0</HiddenSlides>
  <MMClips>0</MMClips>
  <ScaleCrop>false</ScaleCrop>
  <HeadingPairs>
    <vt:vector size="8" baseType="variant">
      <vt:variant>
        <vt:lpstr>Fuentes usadas</vt:lpstr>
      </vt:variant>
      <vt:variant>
        <vt:i4>2</vt:i4>
      </vt:variant>
      <vt:variant>
        <vt:lpstr>Tema</vt:lpstr>
      </vt:variant>
      <vt:variant>
        <vt:i4>1</vt:i4>
      </vt:variant>
      <vt:variant>
        <vt:lpstr>Servidores OLE incrustados</vt:lpstr>
      </vt:variant>
      <vt:variant>
        <vt:i4>1</vt:i4>
      </vt:variant>
      <vt:variant>
        <vt:lpstr>Títulos de diapositiva</vt:lpstr>
      </vt:variant>
      <vt:variant>
        <vt:i4>2</vt:i4>
      </vt:variant>
    </vt:vector>
  </HeadingPairs>
  <TitlesOfParts>
    <vt:vector size="6" baseType="lpstr">
      <vt:lpstr>Arial</vt:lpstr>
      <vt:lpstr>Calibri</vt:lpstr>
      <vt:lpstr>plantilla Guias rapidas 2021</vt:lpstr>
      <vt:lpstr>Microsoft Word Picture</vt:lpstr>
      <vt:lpstr>Presentación de PowerPoint</vt:lpstr>
      <vt:lpstr>Presentación de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Gomez Valencia, Viviana Andrea</dc:creator>
  <cp:lastModifiedBy>Bonilla, Kelly</cp:lastModifiedBy>
  <cp:revision>10</cp:revision>
  <dcterms:created xsi:type="dcterms:W3CDTF">2021-05-19T15:03:23Z</dcterms:created>
  <dcterms:modified xsi:type="dcterms:W3CDTF">2021-09-29T00:12:17Z</dcterms:modified>
</cp:coreProperties>
</file>